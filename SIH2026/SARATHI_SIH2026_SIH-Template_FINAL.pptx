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2477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2477C"/>
                </a:solidFill>
                <a:latin typeface="Arial"/>
              </a:rPr>
              <a:t>Consumer GPU VRAM in the wild (Steam, Jul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PCs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5454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GB</c:v>
                  </c:pt>
                  <c:pt idx="1">
                    <c:v>16 GB</c:v>
                  </c:pt>
                  <c:pt idx="2">
                    <c:v>12 GB</c:v>
                  </c:pt>
                  <c:pt idx="3">
                    <c:v>8 GB</c:v>
                  </c:pt>
                  <c:pt idx="4">
                    <c:v>6 GB</c:v>
                  </c:pt>
                  <c:pt idx="5">
                    <c:v>4 GB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5.43</c:v>
                </c:pt>
                <c:pt idx="1">
                  <c:v>25.9</c:v>
                </c:pt>
                <c:pt idx="2">
                  <c:v>12.88</c:v>
                </c:pt>
                <c:pt idx="3">
                  <c:v>25.32</c:v>
                </c:pt>
                <c:pt idx="4">
                  <c:v>5.65</c:v>
                </c:pt>
                <c:pt idx="5">
                  <c:v>5.94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5454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32477C"/>
                </a:solidFill>
                <a:latin typeface="Arial"/>
              </a:defRPr>
            </a:pPr>
            <a:r>
              <a:rPr sz="1050" b="0" i="0" u="none" strike="noStrike">
                <a:solidFill>
                  <a:srgbClr val="32477C"/>
                </a:solidFill>
                <a:latin typeface="Arial"/>
              </a:rPr>
              <a:t>Published list price per 1M output tokens (Aug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per 1M output tokens</c:v>
                </c:pt>
              </c:strCache>
            </c:strRef>
          </c:tx>
          <c:spPr>
            <a:solidFill>
              <a:srgbClr val="E8730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454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Frontier cloud model</c:v>
                  </c:pt>
                  <c:pt idx="1">
                    <c:v>Mainstream cloud model</c:v>
                  </c:pt>
                  <c:pt idx="2">
                    <c:v>Budget cloud model</c:v>
                  </c:pt>
                  <c:pt idx="3">
                    <c:v>SARATHI (local)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0.4</c:v>
                </c:pt>
                <c:pt idx="3">
                  <c:v>0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900" u="none">
                  <a:solidFill>
                    <a:srgbClr val="5454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454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Problem Statement ID, Problem Statement Title and Team ID from the SIH portal before exporting the final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Swiss-Army-knife analogy, then the three named pains, then the three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hard engineering: hot-swapping the adapter without flushing GPU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is not theoretical - a baseline prototype already works. The chart shows the addressable hardware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anchor numbers. Cloud prices are published list prices, cited on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references plus a clear statement of where every figure on the deck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133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68680"/>
            <a:ext cx="4590288" cy="4910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23957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320040" y="30540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320040" y="3712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(AI)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20040" y="4370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0040" y="5029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20040" y="56875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portal)- </a:t>
            </a:r>
            <a:pPr indent="0" marL="0">
              <a:buNone/>
            </a:pPr>
            <a:r>
              <a:rPr lang="en-US" sz="17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SARATHI – YOUR PRIVATE AI, ON YOUR OWN PC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152144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❖Proposed Solution (Describe your Idea/Solution/Prototype)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explanation of the proposed solution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1956816"/>
            <a:ext cx="56052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ONE small AI engine in memory – not ten heavy ones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 on a tiny “skill cap” for the job: coding, maths, writing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Swaps caps live – no restart, no memory flush, no freeze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a silent local server on a loopback address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14553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addresses the problem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45643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Tax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50592" y="3456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Everyday tasks run free, on your own PC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8221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822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Memory Wall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50592" y="3822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 base engine + featherweight skill caps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418795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187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Loss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450592" y="41879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Hybrid memory re-injects history on every swap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5760" y="46268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and uniqueness of the solution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4919472"/>
            <a:ext cx="5605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hardware profiler picks the right-sized free model for YOUR PC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cap-swapping without flushing GPU memory – context survives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MCP, so it plugs into the tools you already run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1664208"/>
            <a:ext cx="5468112" cy="2798064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1737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vs.  SARATHI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65392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multi-model setup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65392" y="2322576"/>
            <a:ext cx="2286000" cy="1298448"/>
          </a:xfrm>
          <a:prstGeom prst="rect">
            <a:avLst/>
          </a:prstGeom>
          <a:solidFill>
            <a:srgbClr val="FBEAE7"/>
          </a:solidFill>
          <a:ln w="12700">
            <a:solidFill>
              <a:srgbClr val="E8BDB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02552" y="2432304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02552" y="2432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– full size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702552" y="2816352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02552" y="28163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– full size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702552" y="3200400"/>
            <a:ext cx="201168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02552" y="32004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 – full size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65392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overflow → system freeze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942832" y="2788920"/>
            <a:ext cx="402336" cy="36576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0" y="20482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SARATHI orchestration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418320" y="2322576"/>
            <a:ext cx="2286000" cy="1298448"/>
          </a:xfrm>
          <a:prstGeom prst="rect">
            <a:avLst/>
          </a:prstGeom>
          <a:solidFill>
            <a:srgbClr val="E6F3EA"/>
          </a:solidFill>
          <a:ln w="12700">
            <a:solidFill>
              <a:srgbClr val="B6D9C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55480" y="2432304"/>
            <a:ext cx="2011680" cy="566928"/>
          </a:xfrm>
          <a:prstGeom prst="rect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555480" y="24323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base engine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5554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554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2412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2412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927080" y="3127248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27080" y="3127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9418320" y="36576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1E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hot-swappable skill caps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565392" y="3986784"/>
            <a:ext cx="5138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Figure: one shared base model + swappable low-rank skill caps replaces several full-size models held in VRAM at once.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400800" y="4626864"/>
            <a:ext cx="1737360" cy="9144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0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47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~78%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6473952" y="5120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system VRAM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57032" y="4626864"/>
            <a:ext cx="1737360" cy="9144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57032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47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~99%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8330184" y="5120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skill files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13264" y="4626864"/>
            <a:ext cx="1737360" cy="9144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13264" y="470001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477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bytes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10186416" y="5120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your device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and process for implementation  (flow of every prompt)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Profiler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GPU VRAM, RAM and 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 base-model pick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72384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73552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56432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5643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456432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Analyzer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56432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prompt, tags the skill needed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56432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11296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Target skill tag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80176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81344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6422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64224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Registry &amp; Switcher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64224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and hot-swaps the skill cap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64224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Active model state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887968" y="2487168"/>
            <a:ext cx="182880" cy="274320"/>
          </a:xfrm>
          <a:prstGeom prst="rightArrow">
            <a:avLst/>
          </a:prstGeom>
          <a:solidFill>
            <a:srgbClr val="E8730C"/>
          </a:solidFill>
          <a:ln w="12700">
            <a:solidFill>
              <a:srgbClr val="E8730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89136" y="1572768"/>
            <a:ext cx="2688336" cy="2084832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72016" y="1719072"/>
            <a:ext cx="402336" cy="402336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7201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272016" y="219456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Memory Cache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272016" y="2651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Re-attaches project history and context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272016" y="3200400"/>
            <a:ext cx="2322576" cy="3108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26880" y="320040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Contextual answer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5760" y="373075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silently in the background as a local server on a loopback address – nothing leaves the machine during use.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365760" y="4114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Technologies to be used  (languages, frameworks, hardware)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65760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engines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12064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 quantised models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273552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19856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API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419856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Loopback socket drivers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181344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27648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layer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6327648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low-rank adapters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registry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9089136" y="4462272"/>
            <a:ext cx="2724912" cy="1371600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235440" y="45354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connectivity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9235440" y="4828032"/>
            <a:ext cx="24323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Letta · Mem0 · Zep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RAM + modest GPU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365760" y="592531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fine-tuning is performed externally – SARATHI orchestrates and serves.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Analysis of the feasibility of the idea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5760720" cy="768096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755648"/>
            <a:ext cx="310896" cy="310896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0976" y="1591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proof of concept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50976" y="18470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base model (Qwen3 4B) already orchestrated with externally fine-tuned adapters.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395728"/>
            <a:ext cx="5760720" cy="768096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" y="2615184"/>
            <a:ext cx="310896" cy="310896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50976" y="2450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open-source base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" y="270662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and Ollama already support request-level matrix modification.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255264"/>
            <a:ext cx="5760720" cy="768096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" y="3474720"/>
            <a:ext cx="310896" cy="310896"/>
          </a:xfrm>
          <a:prstGeom prst="ellipse">
            <a:avLst/>
          </a:prstGeom>
          <a:solidFill>
            <a:srgbClr val="1E7A3C"/>
          </a:solidFill>
          <a:ln w="12700">
            <a:solidFill>
              <a:srgbClr val="1E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50976" y="3310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team split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0976" y="35661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Profiler, Classifier, Memory Cache and Adapter Registry build and test independently.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355080" y="1170432"/>
            <a:ext cx="544068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6D5E6"/>
            </a:solidFill>
            <a:prstDash val="solid"/>
          </a:ln>
        </p:spPr>
      </p:sp>
      <p:graphicFrame>
        <p:nvGraphicFramePr>
          <p:cNvPr id="26" name="Chart 0" descr=""/>
          <p:cNvGraphicFramePr/>
          <p:nvPr/>
        </p:nvGraphicFramePr>
        <p:xfrm>
          <a:off x="6455664" y="1536192"/>
          <a:ext cx="5239512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6455664" y="3730752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all gaming PCs now hold 10 GB+ VRAM – still not enough for several full models at once. That gap is SARATHI's market.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65760" y="42245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challenges and risks   →   Strategies for overcoming these challenges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65760" y="4553712"/>
            <a:ext cx="11430000" cy="310896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12064" y="4553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754880" y="455371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strategy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65760" y="4864608"/>
            <a:ext cx="11430000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2064" y="4864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out of GPU memory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754880" y="486460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profiler caps the base model to what the PC can actually hold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65760" y="5193792"/>
            <a:ext cx="11430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2064" y="51937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cap fails to load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754880" y="519379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validation, error boundaries and graceful fallback to the base engine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365760" y="5522976"/>
            <a:ext cx="11430000" cy="329184"/>
          </a:xfrm>
          <a:prstGeom prst="rect">
            <a:avLst/>
          </a:prstGeom>
          <a:solidFill>
            <a:srgbClr val="EAF1F8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2064" y="55229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community models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754880" y="552297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pipeline separates tested base models from experimental ones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65760" y="5852160"/>
            <a:ext cx="11430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12064" y="58521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skill picked for a prompt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4754880" y="585216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intent classifier with per-model runtime profiles (chat template, stop tokens)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impact on the target audience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solo developers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AI tooling with no monthly bill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083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 &amp; startups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7083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code and data never leave the office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1517904"/>
            <a:ext cx="3657600" cy="749808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11312" y="15727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&amp; rural users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11312" y="1847088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offline; nothing crosses a border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" y="23774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of the solution  (social, economic, environmental)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2724912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5E6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475488" y="3017520"/>
          <a:ext cx="5266944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75488" y="501091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routine task kept off the cloud is a recurring bill that never starts.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8076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08076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8076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20877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 without a credit card or subscription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where the internet does not – offline by design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and medical data stay on the user's device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800100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00100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00100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12901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per-token fees for everyday tasks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hardware students and firms already own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 smaller skill files – cheap to store and share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9921240" y="2724912"/>
            <a:ext cx="1828800" cy="265176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921240" y="2724912"/>
            <a:ext cx="1828800" cy="329184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921240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0049256" y="3145536"/>
            <a:ext cx="1572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local model instead of a data-centre call for simple work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~78% less VRAM → less power drawn per task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the useful life of existing PCs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65760" y="5541264"/>
            <a:ext cx="11430000" cy="713232"/>
          </a:xfrm>
          <a:prstGeom prst="rect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0080" y="5596128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2600" dirty="0"/>
          </a:p>
        </p:txBody>
      </p:sp>
      <p:sp>
        <p:nvSpPr>
          <p:cNvPr id="37" name="Text 33"/>
          <p:cNvSpPr/>
          <p:nvPr/>
        </p:nvSpPr>
        <p:spPr>
          <a:xfrm>
            <a:off x="1682496" y="55961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VRAM used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474720" y="5596128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</a:t>
            </a:r>
            <a:endParaRPr lang="en-US" sz="2600" dirty="0"/>
          </a:p>
        </p:txBody>
      </p:sp>
      <p:sp>
        <p:nvSpPr>
          <p:cNvPr id="39" name="Text 35"/>
          <p:cNvSpPr/>
          <p:nvPr/>
        </p:nvSpPr>
        <p:spPr>
          <a:xfrm>
            <a:off x="4517136" y="55961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skill files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309360" y="5596128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600" dirty="0"/>
          </a:p>
        </p:txBody>
      </p:sp>
      <p:sp>
        <p:nvSpPr>
          <p:cNvPr id="41" name="Text 37"/>
          <p:cNvSpPr/>
          <p:nvPr/>
        </p:nvSpPr>
        <p:spPr>
          <a:xfrm>
            <a:off x="7351776" y="55961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sent to a server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9144000" y="5596128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600" dirty="0"/>
          </a:p>
        </p:txBody>
      </p:sp>
      <p:sp>
        <p:nvSpPr>
          <p:cNvPr id="43" name="Text 39"/>
          <p:cNvSpPr/>
          <p:nvPr/>
        </p:nvSpPr>
        <p:spPr>
          <a:xfrm>
            <a:off x="10186416" y="559612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rupees per token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182880"/>
            <a:ext cx="1335024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563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752" y="18288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201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68" y="82296"/>
            <a:ext cx="2130552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01400" y="6400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Details / Links of the reference and research work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777240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" y="1755648"/>
            <a:ext cx="292608" cy="292608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1572768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al., “LoRA: Low-Rank Adaptation of Large Language Models”, ICLR 2022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1828800"/>
            <a:ext cx="7095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Specialising a model needs a tiny fraction of its parameters – proves the “skill cap” is viable.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14400" y="204825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arxiv.org/abs/2106.09685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235915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" y="2578608"/>
            <a:ext cx="292608" cy="292608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2395728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al., “Punica: Multi-Tenant LoRA Serving”, arXiv:2310.18547, 2023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14400" y="2651760"/>
            <a:ext cx="7095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different skills can be served concurrently over one shared base model.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" y="287121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arxiv.org/abs/2310.18547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3182112"/>
            <a:ext cx="777240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" y="3401568"/>
            <a:ext cx="292608" cy="292608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14400" y="3218688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Sheng et al., “S-LoRA: Serving Thousands of Concurrent LoRA Adapters”, MLSys 2024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4400" y="3474720"/>
            <a:ext cx="7095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Paging adapters just-in-time serves ~2,000 adapters at near-constant throughput; up to 4× vLLM.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14400" y="369417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arxiv.org/abs/2311.03285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4005072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12064" y="4224528"/>
            <a:ext cx="292608" cy="292608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2064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914400" y="4041648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Gerganov et al., “llama.cpp: C/C++ LLM Inference Engine”, 2024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14400" y="4297680"/>
            <a:ext cx="7095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Dependency-free engine that makes quantised local execution practical on ordinary PCs.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14400" y="451713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github.com/ggml-org/llama.cpp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65760" y="4828032"/>
            <a:ext cx="7772400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2064" y="5047488"/>
            <a:ext cx="292608" cy="292608"/>
          </a:xfrm>
          <a:prstGeom prst="ellipse">
            <a:avLst/>
          </a:prstGeom>
          <a:solidFill>
            <a:srgbClr val="32477C"/>
          </a:solidFill>
          <a:ln w="12700">
            <a:solidFill>
              <a:srgbClr val="32477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2064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14400" y="4864608"/>
            <a:ext cx="7095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Addair et al., “LoRAX: Multi-LoRA Inference Server for Production Workloads”, 2024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14400" y="5120640"/>
            <a:ext cx="7095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evidence that dynamic adapter loading works as a served product.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914400" y="5340096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github.com/predibase/lorax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8321040" y="1536192"/>
            <a:ext cx="3474720" cy="2048256"/>
          </a:xfrm>
          <a:prstGeom prst="rect">
            <a:avLst/>
          </a:prstGeom>
          <a:solidFill>
            <a:srgbClr val="EAF1F8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67344" y="160934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our numbers come from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467344" y="1920240"/>
            <a:ext cx="31821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VRAM saving and 99% smaller adapters – SARATHI project synopsis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VRAM share – Steam Hardware Survey, July 2026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prices – published 2026 LLM API list prices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321040" y="3712464"/>
            <a:ext cx="3474720" cy="1463040"/>
          </a:xfrm>
          <a:prstGeom prst="rect">
            <a:avLst/>
          </a:prstGeom>
          <a:solidFill>
            <a:srgbClr val="F4F7FB"/>
          </a:solidFill>
          <a:ln w="12700">
            <a:solidFill>
              <a:srgbClr val="C6D5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67344" y="378561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4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ecosystem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8467344" y="4096512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– open tool-connection standard, now under the Linux Foundation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Hugging Face, Letta, Mem0, Zep – provider ecosystem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321040" y="5303520"/>
            <a:ext cx="3474720" cy="768096"/>
          </a:xfrm>
          <a:prstGeom prst="rect">
            <a:avLst/>
          </a:prstGeom>
          <a:solidFill>
            <a:srgbClr val="FDEEDD"/>
          </a:solidFill>
          <a:ln w="12700">
            <a:solidFill>
              <a:srgbClr val="F3D4B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67344" y="53583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Prof. Rupali Zambre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467344" y="561441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4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Pimpri Chinchwad University, Pune – CSE-AIML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365760" y="5687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validated on a compact base model with externally fine-tuned adapters.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2026-08-08T14:29:59Z</dcterms:created>
  <dcterms:modified xsi:type="dcterms:W3CDTF">2026-08-08T14:29:59Z</dcterms:modified>
</cp:coreProperties>
</file>