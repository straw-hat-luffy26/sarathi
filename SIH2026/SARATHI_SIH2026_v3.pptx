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2477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2477C"/>
                </a:solidFill>
                <a:latin typeface="Arial"/>
              </a:rPr>
              <a:t>Consumer GPU VRAM in the wild (Steam, Jul 2026)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PCs</c:v>
                </c:pt>
              </c:strCache>
            </c:strRef>
          </c:tx>
          <c:spPr>
            <a:solidFill>
              <a:srgbClr val="0071C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454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24 GB</c:v>
                  </c:pt>
                  <c:pt idx="1">
                    <c:v>16 GB</c:v>
                  </c:pt>
                  <c:pt idx="2">
                    <c:v>12 GB</c:v>
                  </c:pt>
                  <c:pt idx="3">
                    <c:v>8 GB</c:v>
                  </c:pt>
                  <c:pt idx="4">
                    <c:v>6 GB</c:v>
                  </c:pt>
                  <c:pt idx="5">
                    <c:v>4 GB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5.43</c:v>
                </c:pt>
                <c:pt idx="1">
                  <c:v>25.9</c:v>
                </c:pt>
                <c:pt idx="2">
                  <c:v>12.88</c:v>
                </c:pt>
                <c:pt idx="3">
                  <c:v>25.32</c:v>
                </c:pt>
                <c:pt idx="4">
                  <c:v>5.65</c:v>
                </c:pt>
                <c:pt idx="5">
                  <c:v>5.94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5454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454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454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Problem Statement ID, Problem Statement Title and Team ID from the SIH portal before exporting the final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Swiss-Army-knife analogy, then the three named pains, then the three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is the hard engineering: hot-swapping the adapter without flushing GPU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is not theoretical - a baseline prototype already works. The chart shows the addressable hardware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anchor numbers. Cloud prices are published list prices, cited on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references plus a clear statement of where every figure on the deck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1338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868680"/>
            <a:ext cx="4590288" cy="4910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2395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320040" y="30540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320040" y="3712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(AI)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20040" y="4370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20040" y="5029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20040" y="56875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SARATHI – YOUR PRIVATE AI, ON YOUR OWN PC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15214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❖Proposed Solution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65760" y="166420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explanation of the proposed solution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1956816"/>
            <a:ext cx="56052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ONE small AI engine in memory – not ten heavy ones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 on a tiny “skill cap” for the job: coding, maths, writing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Swaps caps live – no restart, no memory flush, no freeze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a silent local server on a loopback address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3145536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it addresses the problem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45643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Tax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50592" y="3456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Everyday tasks run free, on your own PC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82219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8221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Memory Wall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50592" y="3822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One base engine + featherweight skill caps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" y="418795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Loss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450592" y="41879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Hybrid memory re-injects history on every swap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65760" y="46268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Innovation and uniqueness of the solution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" y="4919472"/>
            <a:ext cx="5605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hardware profiler picks the right-sized free model for YOUR PC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cap-swapping without flushing GPU memory – context survives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MCP, so it plugs into the tools you already run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1664208"/>
            <a:ext cx="5468112" cy="2798064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 vs.  SARATHI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65392" y="2048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multi-model setup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65392" y="2322576"/>
            <a:ext cx="2286000" cy="1298448"/>
          </a:xfrm>
          <a:prstGeom prst="rect">
            <a:avLst/>
          </a:prstGeom>
          <a:solidFill>
            <a:srgbClr val="FBEAE7"/>
          </a:solidFill>
          <a:ln w="12700">
            <a:solidFill>
              <a:srgbClr val="E8BDB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02552" y="2432304"/>
            <a:ext cx="201168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02552" y="2432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 – full size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702552" y="2816352"/>
            <a:ext cx="201168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02552" y="28163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 – full size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702552" y="3200400"/>
            <a:ext cx="201168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02552" y="3200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 – full size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565392" y="3657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overflow → system freeze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942832" y="2788920"/>
            <a:ext cx="402336" cy="365760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18320" y="2048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SARATHI orchestration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418320" y="2322576"/>
            <a:ext cx="2286000" cy="1298448"/>
          </a:xfrm>
          <a:prstGeom prst="rect">
            <a:avLst/>
          </a:prstGeom>
          <a:solidFill>
            <a:srgbClr val="E6F3EA"/>
          </a:solidFill>
          <a:ln w="12700">
            <a:solidFill>
              <a:srgbClr val="B6D9C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555480" y="2432304"/>
            <a:ext cx="2011680" cy="566928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55480" y="24323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base engine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9555480" y="3127248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55480" y="3127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241280" y="3127248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241280" y="3127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0927080" y="3127248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927080" y="3127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9418320" y="3657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hot-swappable skill caps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565392" y="3986784"/>
            <a:ext cx="513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one shared base model + swappable low-rank skill caps replaces several full-size models held in VRAM at once.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400800" y="4626864"/>
            <a:ext cx="1737360" cy="102412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92240" y="4700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running cost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6492240" y="499262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work stays on your own PC instead of a paid cloud API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57032" y="4626864"/>
            <a:ext cx="1737360" cy="102412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348472" y="4700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ordinary hardware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8348472" y="499262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base engine held in memory instead of several full models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113264" y="4626864"/>
            <a:ext cx="1737360" cy="102412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204704" y="4700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default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10204704" y="499262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and files are processed on your device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Methodology and process for implementation  (flow of every prompt)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72768"/>
            <a:ext cx="2688336" cy="2084832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1719072"/>
            <a:ext cx="402336" cy="40233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21945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Profiler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651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GPU VRAM, RAM and 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2322576" cy="3108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32004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Safe base-model pick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072384" y="2487168"/>
            <a:ext cx="182880" cy="274320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73552" y="1572768"/>
            <a:ext cx="2688336" cy="2084832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56432" y="1719072"/>
            <a:ext cx="402336" cy="40233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5643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456432" y="21945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Analyzer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456432" y="2651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prompt, tags the skill needed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456432" y="3200400"/>
            <a:ext cx="2322576" cy="3108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11296" y="32004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Target skill tag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80176" y="2487168"/>
            <a:ext cx="182880" cy="274320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81344" y="1572768"/>
            <a:ext cx="2688336" cy="2084832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4224" y="1719072"/>
            <a:ext cx="402336" cy="40233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6422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364224" y="21945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Registry &amp; Switcher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64224" y="2651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and hot-swaps the skill cap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64224" y="3200400"/>
            <a:ext cx="2322576" cy="3108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19088" y="32004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Active model state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887968" y="2487168"/>
            <a:ext cx="182880" cy="274320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89136" y="1572768"/>
            <a:ext cx="2688336" cy="2084832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72016" y="1719072"/>
            <a:ext cx="402336" cy="40233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7201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272016" y="21945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Memory Cache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272016" y="2651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Re-attaches project history and context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272016" y="3200400"/>
            <a:ext cx="2322576" cy="3108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326880" y="32004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Contextual answer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65760" y="373075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silently in the background as a local server on a loopback address – nothing leaves the machine during use.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365760" y="4114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Technologies to be used  (languages, frameworks, hardware)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65760" y="4462272"/>
            <a:ext cx="2724912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2064" y="45354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engines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12064" y="4828032"/>
            <a:ext cx="2432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GGUF quantised models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3273552" y="4462272"/>
            <a:ext cx="2724912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19856" y="45354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API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3419856" y="4828032"/>
            <a:ext cx="2432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API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Loopback socket drivers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181344" y="4462272"/>
            <a:ext cx="2724912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27648" y="45354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layer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6327648" y="4828032"/>
            <a:ext cx="2432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low-rank adapters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registry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9089136" y="4462272"/>
            <a:ext cx="2724912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235440" y="45354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connectivity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9235440" y="4828032"/>
            <a:ext cx="2432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Letta · Mem0 · Zep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RAM + modest GPU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365760" y="592531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fine-tuning is performed externally – SARATHI orchestrates and serves.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Analysis of the feasibility of the idea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5760720" cy="932688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1828800"/>
            <a:ext cx="329184" cy="329184"/>
          </a:xfrm>
          <a:prstGeom prst="ellipse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9264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proof of concept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9264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base model (Qwen3 4B) already orchestrated with externally fine-tuned adapters.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578608"/>
            <a:ext cx="5760720" cy="932688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" y="2871216"/>
            <a:ext cx="329184" cy="329184"/>
          </a:xfrm>
          <a:prstGeom prst="ellipse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9264" y="26883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open-source base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69264" y="2962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 and Ollama already support request-level matrix modification.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621024"/>
            <a:ext cx="5760720" cy="932688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0352" y="3913632"/>
            <a:ext cx="329184" cy="329184"/>
          </a:xfrm>
          <a:prstGeom prst="ellipse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69264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team split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69264" y="4005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Profiler, Classifier, Memory Cache and Adapter Registry build and test independently.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55080" y="1170432"/>
            <a:ext cx="5440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5E6"/>
            </a:solidFill>
            <a:prstDash val="solid"/>
          </a:ln>
        </p:spPr>
      </p:sp>
      <p:graphicFrame>
        <p:nvGraphicFramePr>
          <p:cNvPr id="26" name="Chart 0" descr=""/>
          <p:cNvGraphicFramePr/>
          <p:nvPr/>
        </p:nvGraphicFramePr>
        <p:xfrm>
          <a:off x="6455664" y="1554480"/>
          <a:ext cx="5239512" cy="2542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6455664" y="4059936"/>
            <a:ext cx="5239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all gaming PCs now hold 10 GB+ VRAM – still not enough for several full models at once. That gap is SARATHI's market.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65760" y="46817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challenges and risks   →   Strategies for overcoming these challenges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365760" y="5047488"/>
            <a:ext cx="5120640" cy="1042416"/>
          </a:xfrm>
          <a:prstGeom prst="rect">
            <a:avLst/>
          </a:prstGeom>
          <a:solidFill>
            <a:srgbClr val="FBEAE7"/>
          </a:solidFill>
          <a:ln w="12700">
            <a:solidFill>
              <a:srgbClr val="E8BDB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5138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48640" y="5394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cap fails to load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48640" y="5669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adapter may be missing, corrupt or incompatible with the running base engine.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596128" y="5431536"/>
            <a:ext cx="457200" cy="310896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172200" y="5047488"/>
            <a:ext cx="5623560" cy="1042416"/>
          </a:xfrm>
          <a:prstGeom prst="rect">
            <a:avLst/>
          </a:prstGeom>
          <a:solidFill>
            <a:srgbClr val="E6F3EA"/>
          </a:solidFill>
          <a:ln w="12700">
            <a:solidFill>
              <a:srgbClr val="B6D9C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355080" y="5138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STRATEGY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355080" y="53949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validation checks the adapter before it is applied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boundaries contain the failure instead of crashing the app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fallback: the base engine answers while the cap is skipped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impact on the target audience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17904"/>
            <a:ext cx="3657600" cy="74980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57276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solo developers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" y="18470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AI tooling with no monthly bill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517904"/>
            <a:ext cx="3657600" cy="74980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70832" y="157276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 &amp; startups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70832" y="18470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code and data never leave the office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1517904"/>
            <a:ext cx="3657600" cy="74980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1312" y="157276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&amp; rural users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11312" y="18470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offline; nothing crosses a border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5760" y="23774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Benefits of the solution  (social, economic, environmental)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5760" y="2724912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2798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user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12064" y="3127248"/>
            <a:ext cx="248716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" y="312724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today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18688" y="3127248"/>
            <a:ext cx="2487168" cy="292608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18688" y="312724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SARATHI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12064" y="3493008"/>
            <a:ext cx="2487168" cy="347472"/>
          </a:xfrm>
          <a:prstGeom prst="rect">
            <a:avLst/>
          </a:prstGeom>
          <a:solidFill>
            <a:srgbClr val="FBEAE7"/>
          </a:solidFill>
          <a:ln w="12700">
            <a:solidFill>
              <a:srgbClr val="E8BDB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" y="349300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 fee for every task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18688" y="3493008"/>
            <a:ext cx="2487168" cy="347472"/>
          </a:xfrm>
          <a:prstGeom prst="rect">
            <a:avLst/>
          </a:prstGeom>
          <a:solidFill>
            <a:srgbClr val="E6F3EA"/>
          </a:solidFill>
          <a:ln w="12700">
            <a:solidFill>
              <a:srgbClr val="B6D9C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349300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tasks run on hardware you own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017520" y="3584448"/>
            <a:ext cx="164592" cy="164592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2064" y="3877056"/>
            <a:ext cx="2487168" cy="347472"/>
          </a:xfrm>
          <a:prstGeom prst="rect">
            <a:avLst/>
          </a:prstGeom>
          <a:solidFill>
            <a:srgbClr val="FBEAE7"/>
          </a:solidFill>
          <a:ln w="12700">
            <a:solidFill>
              <a:srgbClr val="E8BDB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" y="38770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and files sent to a server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218688" y="3877056"/>
            <a:ext cx="2487168" cy="347472"/>
          </a:xfrm>
          <a:prstGeom prst="rect">
            <a:avLst/>
          </a:prstGeom>
          <a:solidFill>
            <a:srgbClr val="E6F3EA"/>
          </a:solidFill>
          <a:ln w="12700">
            <a:solidFill>
              <a:srgbClr val="B6D9C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91840" y="38770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and files stay on the device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017520" y="3968496"/>
            <a:ext cx="164592" cy="164592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12064" y="4261104"/>
            <a:ext cx="2487168" cy="347472"/>
          </a:xfrm>
          <a:prstGeom prst="rect">
            <a:avLst/>
          </a:prstGeom>
          <a:solidFill>
            <a:srgbClr val="FBEAE7"/>
          </a:solidFill>
          <a:ln w="12700">
            <a:solidFill>
              <a:srgbClr val="E8BDB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" y="42611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live internet connection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218688" y="4261104"/>
            <a:ext cx="2487168" cy="347472"/>
          </a:xfrm>
          <a:prstGeom prst="rect">
            <a:avLst/>
          </a:prstGeom>
          <a:solidFill>
            <a:srgbClr val="E6F3EA"/>
          </a:solidFill>
          <a:ln w="12700">
            <a:solidFill>
              <a:srgbClr val="B6D9C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91840" y="42611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working offline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017520" y="4352544"/>
            <a:ext cx="164592" cy="164592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12064" y="4645152"/>
            <a:ext cx="2487168" cy="347472"/>
          </a:xfrm>
          <a:prstGeom prst="rect">
            <a:avLst/>
          </a:prstGeom>
          <a:solidFill>
            <a:srgbClr val="FBEAE7"/>
          </a:solidFill>
          <a:ln w="12700">
            <a:solidFill>
              <a:srgbClr val="E8BDB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5216" y="464515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vendor decides the model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18688" y="4645152"/>
            <a:ext cx="2487168" cy="347472"/>
          </a:xfrm>
          <a:prstGeom prst="rect">
            <a:avLst/>
          </a:prstGeom>
          <a:solidFill>
            <a:srgbClr val="E6F3EA"/>
          </a:solidFill>
          <a:ln w="12700">
            <a:solidFill>
              <a:srgbClr val="B6D9C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91840" y="464515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choose the model and the skills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017520" y="4736592"/>
            <a:ext cx="164592" cy="164592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2064" y="50474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routine task kept off the cloud is a recurring bill that never starts.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080760" y="2724912"/>
            <a:ext cx="182880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2724912"/>
            <a:ext cx="1828800" cy="329184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80760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208776" y="3145536"/>
            <a:ext cx="15727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access without a credit card or subscription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where the internet does not – offline by design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and medical data stay on the user's device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001000" y="2724912"/>
            <a:ext cx="182880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001000" y="2724912"/>
            <a:ext cx="1828800" cy="329184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001000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129016" y="3145536"/>
            <a:ext cx="15727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per-token fees for everyday tasks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hardware students and firms already own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files are small – cheap to store and share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9921240" y="2724912"/>
            <a:ext cx="182880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921240" y="2724912"/>
            <a:ext cx="1828800" cy="329184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921240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10049256" y="3145536"/>
            <a:ext cx="15727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local model instead of a data-centre call for simple work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GPU memory per task means less power drawn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the useful life of existing PCs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365760" y="5541264"/>
            <a:ext cx="11430000" cy="713232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7200" y="5541264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 per-token bill</a:t>
            </a:r>
            <a:endParaRPr lang="en-US" sz="1250" dirty="0"/>
          </a:p>
        </p:txBody>
      </p:sp>
      <p:sp>
        <p:nvSpPr>
          <p:cNvPr id="61" name="Text 58"/>
          <p:cNvSpPr/>
          <p:nvPr/>
        </p:nvSpPr>
        <p:spPr>
          <a:xfrm>
            <a:off x="3310128" y="5541264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Runs on hardware you own</a:t>
            </a:r>
            <a:endParaRPr lang="en-US" sz="1250" dirty="0"/>
          </a:p>
        </p:txBody>
      </p:sp>
      <p:sp>
        <p:nvSpPr>
          <p:cNvPr id="62" name="Text 59"/>
          <p:cNvSpPr/>
          <p:nvPr/>
        </p:nvSpPr>
        <p:spPr>
          <a:xfrm>
            <a:off x="6163056" y="5541264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stays on your device</a:t>
            </a:r>
            <a:endParaRPr lang="en-US" sz="1250" dirty="0"/>
          </a:p>
        </p:txBody>
      </p:sp>
      <p:sp>
        <p:nvSpPr>
          <p:cNvPr id="63" name="Text 60"/>
          <p:cNvSpPr/>
          <p:nvPr/>
        </p:nvSpPr>
        <p:spPr>
          <a:xfrm>
            <a:off x="9015984" y="5541264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Works without internet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Details / Links of the reference and research work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7772400" cy="950976"/>
          </a:xfrm>
          <a:prstGeom prst="rect">
            <a:avLst/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" y="1847088"/>
            <a:ext cx="310896" cy="31089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32688" y="1591056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et al., “LoRA: Low-Rank Adaptation of Large Language Models”, ICLR 2022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2688" y="1847088"/>
            <a:ext cx="7077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used in SARATHI: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the base model and train only small low-rank matrices – this is exactly what a SARATHI “skill cap” is.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2688" y="2249424"/>
            <a:ext cx="7077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arxiv.org/abs/2106.09685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2578608"/>
            <a:ext cx="7772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" y="2889504"/>
            <a:ext cx="310896" cy="31089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32688" y="263347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Sheng et al., “S-LoRA: Serving Thousands of Concurrent LoRA Adapters”, MLSys 2024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32688" y="2889504"/>
            <a:ext cx="7077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used in SARATHI: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adapters in system RAM or on disk and page them into GPU memory just-in-time – the design of our LoRA Registry &amp; Switcher.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32688" y="3291840"/>
            <a:ext cx="7077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arxiv.org/abs/2311.03285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65760" y="3621024"/>
            <a:ext cx="7772400" cy="950976"/>
          </a:xfrm>
          <a:prstGeom prst="rect">
            <a:avLst/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2064" y="3931920"/>
            <a:ext cx="310896" cy="31089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32688" y="3675888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Addair et al., “LoRAX: Multi-LoRA Inference Server for Production Workloads”, 2024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32688" y="3931920"/>
            <a:ext cx="7077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used in SARATHI: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Asynchronously fetch an adapter from a registry (Hugging Face or a local folder) and exchange it between GPU and CPU memory without restarting the engine.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32688" y="4334256"/>
            <a:ext cx="7077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github.com/predibase/lorax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65760" y="4663440"/>
            <a:ext cx="7772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12064" y="4974336"/>
            <a:ext cx="310896" cy="31089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064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32688" y="4718304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Gerganov et al., “llama.cpp: C/C++ LLM Inference Engine”, 2024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32688" y="4974336"/>
            <a:ext cx="7077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used in SARATHI: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quantised GGUF runtime SARATHI actually runs on – dependency-free local execution on an ordinary PC.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932688" y="5376672"/>
            <a:ext cx="7077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github.com/ggml-org/llama.cpp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321040" y="1536192"/>
            <a:ext cx="3474720" cy="219456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67344" y="160934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research fits together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467344" y="1920240"/>
            <a:ext cx="318211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gives us the small, swappable skill file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and [3] give us the way to load and unload it without restarting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gives us the engine that runs it on a normal PC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SARATHI's own contribution: bringing these together on a single-user desktop, with memory that survives the swap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321040" y="3858768"/>
            <a:ext cx="3474720" cy="1481328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67344" y="393192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ecosystem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467344" y="4242816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– open tool-connection standard, now under the Linux Foundation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Ollama, Hugging Face, Letta, Mem0, Zep – provider ecosystem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321040" y="5468112"/>
            <a:ext cx="3474720" cy="7680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67344" y="552297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 Prof. Rupali Zambre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467344" y="577900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Pimpri Chinchwad University, Pune – CSE-AIML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65760" y="5852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validated on a compact base model with externally fine-tuned adapters.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2026-08-08T16:48:39Z</dcterms:created>
  <dcterms:modified xsi:type="dcterms:W3CDTF">2026-08-08T16:48:39Z</dcterms:modified>
</cp:coreProperties>
</file>