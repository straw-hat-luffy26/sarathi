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2203A"/>
                </a:solidFill>
                <a:latin typeface="Calibri"/>
              </a:rPr>
              <a:t>Consumer GPU VRAM in the wild (Steam, Jul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PCs</c:v>
                </c:pt>
              </c:strCache>
            </c:strRef>
          </c:tx>
          <c:spPr>
            <a:solidFill>
              <a:srgbClr val="078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A657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GB</c:v>
                  </c:pt>
                  <c:pt idx="1">
                    <c:v>16 GB</c:v>
                  </c:pt>
                  <c:pt idx="2">
                    <c:v>12 GB</c:v>
                  </c:pt>
                  <c:pt idx="3">
                    <c:v>8 GB</c:v>
                  </c:pt>
                  <c:pt idx="4">
                    <c:v>6 GB</c:v>
                  </c:pt>
                  <c:pt idx="5">
                    <c:v>4 GB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5.43</c:v>
                </c:pt>
                <c:pt idx="1">
                  <c:v>25.9</c:v>
                </c:pt>
                <c:pt idx="2">
                  <c:v>12.88</c:v>
                </c:pt>
                <c:pt idx="3">
                  <c:v>25.32</c:v>
                </c:pt>
                <c:pt idx="4">
                  <c:v>5.65</c:v>
                </c:pt>
                <c:pt idx="5">
                  <c:v>5.94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5A657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12203A"/>
                </a:solidFill>
                <a:latin typeface="Calibri"/>
              </a:rPr>
              <a:t>Published list price per 1M output tokens (Aug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per 1M output tokens</c:v>
                </c:pt>
              </c:strCache>
            </c:strRef>
          </c:tx>
          <c:spPr>
            <a:solidFill>
              <a:srgbClr val="E07B12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57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Frontier cloud model</c:v>
                  </c:pt>
                  <c:pt idx="1">
                    <c:v>Mainstream cloud model</c:v>
                  </c:pt>
                  <c:pt idx="2">
                    <c:v>Budget cloud model</c:v>
                  </c:pt>
                  <c:pt idx="3">
                    <c:v>SARATHI (local)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0.4</c:v>
                </c:pt>
                <c:pt idx="3">
                  <c:v>0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900" u="none">
                  <a:solidFill>
                    <a:srgbClr val="5A657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1270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Problem Statement ID, Problem Statement Title and Team ID from the SIH portal before exporting to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analogy, then the three pains, then the numbers. The 78% and 99% figures come from the project synopsis.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boxes left to right. Emphasise that stage 3 is the hard engineering: hot-swapping without a memory flush.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not theoretical - a baseline prototype already works. The VRAM chart shows the addressable hardware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anchor numbers. Cloud prices are published list prices and are cited on the references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academic and engineering references, plus a clear statement of where every number on the deck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234440"/>
            <a:ext cx="4297680" cy="4297680"/>
          </a:xfrm>
          <a:prstGeom prst="ellipse">
            <a:avLst/>
          </a:prstGeom>
          <a:solidFill>
            <a:srgbClr val="12203A"/>
          </a:solidFill>
          <a:ln w="15875">
            <a:solidFill>
              <a:srgbClr val="2E4A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965960"/>
            <a:ext cx="2834640" cy="2834640"/>
          </a:xfrm>
          <a:prstGeom prst="ellipse">
            <a:avLst/>
          </a:prstGeom>
          <a:solidFill>
            <a:srgbClr val="12203A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2880360"/>
            <a:ext cx="1005840" cy="1005840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3383280"/>
            <a:ext cx="1645920" cy="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36978" y="3738898"/>
            <a:ext cx="1163841" cy="1163841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3886200"/>
            <a:ext cx="0" cy="164592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25742" y="3738898"/>
            <a:ext cx="-1163841" cy="1163841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3383280"/>
            <a:ext cx="-1645920" cy="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5742" y="3027662"/>
            <a:ext cx="-1163841" cy="-1163841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1360" y="2880360"/>
            <a:ext cx="0" cy="-164592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36978" y="3027662"/>
            <a:ext cx="1163841" cy="-1163841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85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11887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SARATHI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LoRA orchestration system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7240" y="26791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AI. Your machine. Zero token bills.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3310128"/>
            <a:ext cx="7818120" cy="402336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310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33101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67328"/>
            <a:ext cx="7818120" cy="402336"/>
          </a:xfrm>
          <a:prstGeom prst="rect">
            <a:avLst/>
          </a:prstGeom>
          <a:solidFill>
            <a:srgbClr val="162745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673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3767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224528"/>
            <a:ext cx="7818120" cy="402336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2245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2245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681728"/>
            <a:ext cx="7818120" cy="402336"/>
          </a:xfrm>
          <a:prstGeom prst="rect">
            <a:avLst/>
          </a:prstGeom>
          <a:solidFill>
            <a:srgbClr val="162745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6817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46817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138928"/>
            <a:ext cx="7818120" cy="402336"/>
          </a:xfrm>
          <a:prstGeom prst="rect">
            <a:avLst/>
          </a:prstGeom>
          <a:solidFill>
            <a:srgbClr val="1B2E52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138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0" y="51389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5596128"/>
            <a:ext cx="7818120" cy="402336"/>
          </a:xfrm>
          <a:prstGeom prst="rect">
            <a:avLst/>
          </a:prstGeom>
          <a:solidFill>
            <a:srgbClr val="162745"/>
          </a:solidFill>
          <a:ln w="12700">
            <a:solidFill>
              <a:srgbClr val="1B2E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596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0" y="55961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Parag Yewale   ·   Members: Nihar Bute · Srushti Karande · Vedika Bodke · Daksh Somnathe · Shreyash Patil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brain. A team of specialists inside it.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74920" cy="2212848"/>
          </a:xfrm>
          <a:prstGeom prst="roundRect">
            <a:avLst>
              <a:gd name="adj" fmla="val 413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Swiss-Army-Knife trick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ONE small AI engine in memory — not ten heavy ones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 on a tiny “skill cap” for the job: coding, maths, writing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caps live — no restart, no memory flush, no freeze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project across every swap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767328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8770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fixes the three pains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" y="4279392"/>
            <a:ext cx="146304" cy="146304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Tax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tasks run free, on your own PC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4681728"/>
            <a:ext cx="146304" cy="146304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6268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Wall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4626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engine + featherweight caps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5084064"/>
            <a:ext cx="146304" cy="146304"/>
          </a:xfrm>
          <a:prstGeom prst="ellipse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5029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memory re-injects history on swap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1463040"/>
            <a:ext cx="589788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vs. SARATHI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18470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multi-model setup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139696"/>
            <a:ext cx="2606040" cy="1298448"/>
          </a:xfrm>
          <a:prstGeom prst="rect">
            <a:avLst/>
          </a:prstGeom>
          <a:solidFill>
            <a:srgbClr val="FBECEA"/>
          </a:solidFill>
          <a:ln w="12700">
            <a:solidFill>
              <a:srgbClr val="E9C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2249424"/>
            <a:ext cx="2286000" cy="292608"/>
          </a:xfrm>
          <a:prstGeom prst="rect">
            <a:avLst/>
          </a:prstGeom>
          <a:solidFill>
            <a:srgbClr val="D9564A"/>
          </a:solidFill>
          <a:ln w="12700">
            <a:solidFill>
              <a:srgbClr val="D95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 ~ full size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0488" y="2615184"/>
            <a:ext cx="2286000" cy="292608"/>
          </a:xfrm>
          <a:prstGeom prst="rect">
            <a:avLst/>
          </a:prstGeom>
          <a:solidFill>
            <a:srgbClr val="D9564A"/>
          </a:solidFill>
          <a:ln w="12700">
            <a:solidFill>
              <a:srgbClr val="D95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 ~ full size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0488" y="2980944"/>
            <a:ext cx="2286000" cy="292608"/>
          </a:xfrm>
          <a:prstGeom prst="rect">
            <a:avLst/>
          </a:prstGeom>
          <a:solidFill>
            <a:srgbClr val="D9564A"/>
          </a:solidFill>
          <a:ln w="12700">
            <a:solidFill>
              <a:srgbClr val="D956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 ~ full size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34747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overflow → system freeze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32520" y="2606040"/>
            <a:ext cx="384048" cy="365760"/>
          </a:xfrm>
          <a:prstGeom prst="rightArrow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8008" y="1847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orchestration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08008" y="2139696"/>
            <a:ext cx="2286000" cy="1298448"/>
          </a:xfrm>
          <a:prstGeom prst="rect">
            <a:avLst/>
          </a:prstGeom>
          <a:solidFill>
            <a:srgbClr val="E6F3F4"/>
          </a:solidFill>
          <a:ln w="12700">
            <a:solidFill>
              <a:srgbClr val="B9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36024" y="2249424"/>
            <a:ext cx="2029968" cy="566928"/>
          </a:xfrm>
          <a:prstGeom prst="rect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22494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base engine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36024" y="2926080"/>
            <a:ext cx="621792" cy="310896"/>
          </a:xfrm>
          <a:prstGeom prst="roundRect">
            <a:avLst>
              <a:gd name="adj" fmla="val 20588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6024" y="292608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30968" y="2926080"/>
            <a:ext cx="621792" cy="310896"/>
          </a:xfrm>
          <a:prstGeom prst="roundRect">
            <a:avLst>
              <a:gd name="adj" fmla="val 20588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30968" y="292608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25912" y="2926080"/>
            <a:ext cx="621792" cy="310896"/>
          </a:xfrm>
          <a:prstGeom prst="roundRect">
            <a:avLst>
              <a:gd name="adj" fmla="val 20588"/>
            </a:avLst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25912" y="292608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08008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hot-swappable skill caps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06440" y="40690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4142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~78%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58978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system VRAM used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99832" y="40690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99832" y="4142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~99%</a:t>
            </a:r>
            <a:endParaRPr lang="en-US" sz="2500" dirty="0"/>
          </a:p>
        </p:txBody>
      </p:sp>
      <p:sp>
        <p:nvSpPr>
          <p:cNvPr id="47" name="Text 45"/>
          <p:cNvSpPr/>
          <p:nvPr/>
        </p:nvSpPr>
        <p:spPr>
          <a:xfrm>
            <a:off x="7891272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skill caps vs full model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793224" y="40690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93224" y="4142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bytes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9884664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data leave the device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5577840"/>
            <a:ext cx="11265408" cy="713232"/>
          </a:xfrm>
          <a:prstGeom prst="roundRect">
            <a:avLst>
              <a:gd name="adj" fmla="val 11538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57784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new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331720" y="5742432"/>
            <a:ext cx="223113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31720" y="574243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hardware profiler picks the right-sized free model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690872" y="5742432"/>
            <a:ext cx="223113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90872" y="574243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cap-swapping without flushing GPU memory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050024" y="5742432"/>
            <a:ext cx="223113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0024" y="574243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survives the swap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409176" y="5742432"/>
            <a:ext cx="223113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09176" y="574243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MCP — plugs into the tools you already run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 |  Team Sankalp  |  Smart India Hackathon 2026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every single prompt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20624" cy="42062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7510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Profiler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GPU VRAM, RAM &amp; 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3072384"/>
            <a:ext cx="2267712" cy="329184"/>
          </a:xfrm>
          <a:prstGeom prst="roundRect">
            <a:avLst>
              <a:gd name="adj" fmla="val 16667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07238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 base-model pick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40964" y="2286000"/>
            <a:ext cx="192024" cy="274320"/>
          </a:xfrm>
          <a:prstGeom prst="rightArrow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1298448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1481328"/>
            <a:ext cx="420624" cy="42062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197510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Analyzer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47872" y="245059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prompt, tags the skill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47872" y="3072384"/>
            <a:ext cx="2267712" cy="329184"/>
          </a:xfrm>
          <a:prstGeom prst="roundRect">
            <a:avLst>
              <a:gd name="adj" fmla="val 16667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736" y="307238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 skill tag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0468" y="2286000"/>
            <a:ext cx="192024" cy="274320"/>
          </a:xfrm>
          <a:prstGeom prst="rightArrow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298448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1481328"/>
            <a:ext cx="420624" cy="42062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197510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Registry &amp; Switcher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37376" y="245059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hot-swaps the skill cap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37376" y="3072384"/>
            <a:ext cx="2267712" cy="329184"/>
          </a:xfrm>
          <a:prstGeom prst="roundRect">
            <a:avLst>
              <a:gd name="adj" fmla="val 16667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07238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model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19972" y="2286000"/>
            <a:ext cx="192024" cy="274320"/>
          </a:xfrm>
          <a:prstGeom prst="rightArrow">
            <a:avLst/>
          </a:prstGeom>
          <a:solidFill>
            <a:srgbClr val="E07B12"/>
          </a:solidFill>
          <a:ln w="12700">
            <a:solidFill>
              <a:srgbClr val="E07B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5712" y="1298448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0" y="1481328"/>
            <a:ext cx="420624" cy="42062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0" y="197510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Memory Cache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326880" y="245059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Re-attaches project history &amp; context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26880" y="3072384"/>
            <a:ext cx="2267712" cy="329184"/>
          </a:xfrm>
          <a:prstGeom prst="roundRect">
            <a:avLst>
              <a:gd name="adj" fmla="val 16667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81744" y="307238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Contextual answer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675888"/>
            <a:ext cx="11265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silently in the background as a local server on your own machine — exposed on a loopback address, so nothing ever hits the internet during use.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526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809744"/>
            <a:ext cx="2340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models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46704" y="443484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526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API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29584" y="4809744"/>
            <a:ext cx="2340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socket drivers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443484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4526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layer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19088" y="4809744"/>
            <a:ext cx="2340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low-rank adapters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registry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25712" y="4434840"/>
            <a:ext cx="2706624" cy="1417320"/>
          </a:xfrm>
          <a:prstGeom prst="roundRect">
            <a:avLst>
              <a:gd name="adj" fmla="val 580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08592" y="4526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connectivity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08592" y="4809744"/>
            <a:ext cx="2340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943600"/>
            <a:ext cx="11265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fine-tuning is performed externally — SARATHI only orchestrates and serves.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 |  Team Sankalp  |  Smart India Hackathon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proven once. Runs on hardware people own.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81912"/>
            <a:ext cx="329184" cy="32918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proof of concept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base model (Qwen3 4B) already orchestrated with externally fine-tuned adapters — validated.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551176"/>
            <a:ext cx="329184" cy="32918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86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open-source 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26426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llama.cpp and Ollama, which already support request-level matrix modification.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520440"/>
            <a:ext cx="329184" cy="329184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team split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Profiler, Classifier, Memory Cache and Adapter Registry build and test independently.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325880"/>
            <a:ext cx="5641848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graphicFrame>
        <p:nvGraphicFramePr>
          <p:cNvPr id="20" name="Chart 0" descr=""/>
          <p:cNvGraphicFramePr/>
          <p:nvPr/>
        </p:nvGraphicFramePr>
        <p:xfrm>
          <a:off x="6217920" y="1755648"/>
          <a:ext cx="5367528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217920" y="3950208"/>
            <a:ext cx="5367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gaming PCs now have 10 GB+ VRAM — but still not enough for several full models at once. That gap is exactly SARATHI's market.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→ how we beat them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736592"/>
            <a:ext cx="11265408" cy="310896"/>
          </a:xfrm>
          <a:prstGeom prst="rect">
            <a:avLst/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4736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473659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5047488"/>
            <a:ext cx="11265408" cy="329184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50474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out of GPU memory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0" y="504748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profiler caps the base model to what your PC can actually hold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5376672"/>
            <a:ext cx="1126540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3766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cap fails to load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029200" y="53766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validation, error boundaries and graceful fallback to the base engine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5705856"/>
            <a:ext cx="11265408" cy="329184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5705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community models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0" y="57058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certification pipeline separates tested base models from experimental ones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6035040"/>
            <a:ext cx="1126540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6035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skill picked for a prompt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029200" y="60350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intent classifier with per-model runtime profiles (chat template, stop tokens)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 |  Team Sankalp  |  Smart India Hackathon 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renting intelligence. Start owning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602736" cy="841248"/>
          </a:xfrm>
          <a:prstGeom prst="roundRect">
            <a:avLst>
              <a:gd name="adj" fmla="val 9783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solo developers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tooling with no monthly bill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42816" y="1298448"/>
            <a:ext cx="3602736" cy="841248"/>
          </a:xfrm>
          <a:prstGeom prst="roundRect">
            <a:avLst>
              <a:gd name="adj" fmla="val 9783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1371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 &amp; startups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43984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 and data never leave the office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28432" y="1298448"/>
            <a:ext cx="3602736" cy="841248"/>
          </a:xfrm>
          <a:prstGeom prst="roundRect">
            <a:avLst>
              <a:gd name="adj" fmla="val 9783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71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&amp; rural 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offline; nothing crosses a border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550468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C">
                <a:alpha val="28000"/>
              </a:srgbClr>
            </a:outerShdw>
          </a:effectLst>
        </p:spPr>
      </p:sp>
      <p:graphicFrame>
        <p:nvGraphicFramePr>
          <p:cNvPr id="14" name="Chart 0" descr=""/>
          <p:cNvGraphicFramePr/>
          <p:nvPr/>
        </p:nvGraphicFramePr>
        <p:xfrm>
          <a:off x="585216" y="2688336"/>
          <a:ext cx="5248656" cy="2048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85216" y="471830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routine task you keep off the cloud is a recurring bill that never starts.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2286000"/>
            <a:ext cx="1773936" cy="2761488"/>
          </a:xfrm>
          <a:prstGeom prst="roundRect">
            <a:avLst>
              <a:gd name="adj" fmla="val 463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72784" y="2432304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2784" y="2432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72784" y="2834640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access without a credit card or a subscription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where the internet does not — offline by design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personal and medical data on the user's own device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10144" y="2286000"/>
            <a:ext cx="1773936" cy="2761488"/>
          </a:xfrm>
          <a:prstGeom prst="roundRect">
            <a:avLst>
              <a:gd name="adj" fmla="val 463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56448" y="2432304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56448" y="2432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56448" y="2834640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per-token fees for everyday tasks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hardware students and firms already own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smaller skill files — cheap to store and share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893808" y="2286000"/>
            <a:ext cx="1773936" cy="2761488"/>
          </a:xfrm>
          <a:prstGeom prst="roundRect">
            <a:avLst>
              <a:gd name="adj" fmla="val 463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0112" y="2432304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0112" y="2432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40112" y="2834640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 instead of a data-centre call for simple work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less VRAM → less power drawn per task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useful life of existing PCs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5193792"/>
            <a:ext cx="11265408" cy="969264"/>
          </a:xfrm>
          <a:prstGeom prst="roundRect">
            <a:avLst>
              <a:gd name="adj" fmla="val 9434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303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1920240" y="5303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VRAM used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3566160" y="5303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4709160" y="5303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skill files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355080" y="5303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7498080" y="5303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sent to a server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9144000" y="5303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0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10287000" y="5303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 per token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 |  Team Sankalp  |  Smart India Hackathon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science this is built 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54480"/>
            <a:ext cx="310896" cy="310896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— LoRA: Low-Rank Adaptation of LLMs, ICLR 2022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" y="16459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Specialising a model needs ~0.01% of its parameters — proves the tiny “skill cap” is viable.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2416" y="18836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arxiv.org/abs/2106.09685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68880"/>
            <a:ext cx="310896" cy="310896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2286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— Punica: Multi-Tenant LoRA Serving, arXiv:2310.18547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5603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different skills can be served concurrently over one shared base model.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42416" y="27980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arxiv.org/abs/2310.18547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383280"/>
            <a:ext cx="310896" cy="310896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3200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 et al. — S-LoRA: Serving Thousands of Concurrent LoRA Adapters, MLSys 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4747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adapters in just-in-time serves ~2,000 adapters at near-constant throughput; up to 4× the throughput of vLLM.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2416" y="37124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arxiv.org/abs/2311.03285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297680"/>
            <a:ext cx="310896" cy="310896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2416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Gerganov et al. — llama.cpp inference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389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Dependency-free C/C++ engine that makes quantised local execution practical on ordinary PCs.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42416" y="46268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github.com/ggml-org/llama.cpp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5212080"/>
            <a:ext cx="310896" cy="310896"/>
          </a:xfrm>
          <a:prstGeom prst="ellipse">
            <a:avLst/>
          </a:prstGeom>
          <a:solidFill>
            <a:srgbClr val="07808C"/>
          </a:solidFill>
          <a:ln w="12700">
            <a:solidFill>
              <a:srgbClr val="0780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2416" y="5029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Addair et al. — LoRAX: Multi-LoRA Inference Server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3035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evidence that dynamic adapter loading works as a served product.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42416" y="55412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github.com/predibase/lorax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83880" y="1280160"/>
            <a:ext cx="3538728" cy="2194560"/>
          </a:xfrm>
          <a:prstGeom prst="roundRect">
            <a:avLst>
              <a:gd name="adj" fmla="val 4167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13898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numbers come from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1700784"/>
            <a:ext cx="313639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VRAM saving, 99% smaller adapters — SARATHI project synopsis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VRAM share — Steam Hardware Survey, July 2026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prices — published 2026 LLM API list prices (CloudZero comparison)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83880" y="3602736"/>
            <a:ext cx="3538728" cy="1572768"/>
          </a:xfrm>
          <a:prstGeom prst="roundRect">
            <a:avLst>
              <a:gd name="adj" fmla="val 58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371246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ecosystem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85048" y="40233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open tool-connection standard, now under the Linux Foundation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Hugging Face, Letta, Mem0, Zep — provider ecosystem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83880" y="5303520"/>
            <a:ext cx="3538728" cy="859536"/>
          </a:xfrm>
          <a:prstGeom prst="roundRect">
            <a:avLst>
              <a:gd name="adj" fmla="val 10638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5048" y="53766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Rupali Zambre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85048" y="563270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5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Pimpri Chinchwad University, Pune — CSE-AIML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5925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validated on a compact base model with externally fine-tuned adapters.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  |  Team Sankalp  |  Smart India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2026-08-08T14:13:24Z</dcterms:created>
  <dcterms:modified xsi:type="dcterms:W3CDTF">2026-08-08T14:13:24Z</dcterms:modified>
</cp:coreProperties>
</file>